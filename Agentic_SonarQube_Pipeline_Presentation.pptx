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654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05-Jul-26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05-Jul-26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05-Jul-26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05-Jul-26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38404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rPr dirty="0"/>
              <a:t> Agentic SonarQube Fix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667EEA"/>
                </a:solidFill>
                <a:latin typeface="Calibri"/>
              </a:defRPr>
            </a:pPr>
            <a:r>
              <a:t>A Multi-Agent System for Automated Code Quality Remediation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92B0"/>
                </a:solidFill>
                <a:latin typeface="Calibri"/>
              </a:defRPr>
            </a:pPr>
            <a:r>
              <a:t>Postgraduate Exercise  •  Vasilis Kyriakopoulos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CD6F6"/>
                </a:solidFill>
                <a:latin typeface="Calibri"/>
              </a:defRPr>
            </a:pPr>
            <a:r>
              <a:t>Leveraging LLM agents with tool-calling, structured output, and agentic loops</a:t>
            </a:r>
            <a:br/>
            <a:r>
              <a:t>to autonomously detect, fix, test, review, and verify SonarQube code issues.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92B0"/>
                </a:solidFill>
                <a:latin typeface="Calibri"/>
              </a:defRPr>
            </a:pPr>
            <a:r>
              <a:t>1/12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rPr dirty="0"/>
              <a:t> 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1097280" cy="50800"/>
          </a:xfrm>
          <a:prstGeom prst="rect">
            <a:avLst/>
          </a:prstGeom>
          <a:solidFill>
            <a:srgbClr val="66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67EEA"/>
                </a:solidFill>
                <a:latin typeface="Calibri"/>
              </a:defRPr>
            </a:pPr>
            <a:r>
              <a:t>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46304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D6F6"/>
                </a:solidFill>
                <a:latin typeface="Calibri"/>
              </a:defRPr>
            </a:pPr>
            <a:r>
              <a:t>Problem Statement &amp; Motivation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90195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67EEA"/>
                </a:solidFill>
                <a:latin typeface="Calibri"/>
              </a:defRPr>
            </a:pPr>
            <a:r>
              <a:t>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90195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D6F6"/>
                </a:solidFill>
                <a:latin typeface="Calibri"/>
              </a:defRPr>
            </a:pPr>
            <a:r>
              <a:t>System Architecture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34086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67EEA"/>
                </a:solidFill>
                <a:latin typeface="Calibri"/>
              </a:defRPr>
            </a:pPr>
            <a:r>
              <a:t>3.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340864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D6F6"/>
                </a:solidFill>
                <a:latin typeface="Calibri"/>
              </a:defRPr>
            </a:pPr>
            <a:r>
              <a:t>The 5 Specialized Agents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77977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67EEA"/>
                </a:solidFill>
                <a:latin typeface="Calibri"/>
              </a:defRPr>
            </a:pPr>
            <a:r>
              <a:t>4.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779776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D6F6"/>
                </a:solidFill>
                <a:latin typeface="Calibri"/>
              </a:defRPr>
            </a:pPr>
            <a:r>
              <a:t>Pipeline Workflow (Fix → Test → Review → Evaluate)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21868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67EEA"/>
                </a:solidFill>
                <a:latin typeface="Calibri"/>
              </a:defRPr>
            </a:pPr>
            <a:r>
              <a:t>5.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21868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D6F6"/>
                </a:solidFill>
                <a:latin typeface="Calibri"/>
              </a:defRPr>
            </a:pPr>
            <a:r>
              <a:t>Tool Calling &amp; Structured 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65760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67EEA"/>
                </a:solidFill>
                <a:latin typeface="Calibri"/>
              </a:defRPr>
            </a:pPr>
            <a:r>
              <a:t>6.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65760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D6F6"/>
                </a:solidFill>
                <a:latin typeface="Calibri"/>
              </a:defRPr>
            </a:pPr>
            <a:r>
              <a:t>Coordinator &amp; Retry Logic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09651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67EEA"/>
                </a:solidFill>
                <a:latin typeface="Calibri"/>
              </a:defRPr>
            </a:pPr>
            <a:r>
              <a:t>7.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09651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D6F6"/>
                </a:solidFill>
                <a:latin typeface="Calibri"/>
              </a:defRPr>
            </a:pPr>
            <a:r>
              <a:t>Technology Stack &amp; Deployment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53542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67EEA"/>
                </a:solidFill>
                <a:latin typeface="Calibri"/>
              </a:defRPr>
            </a:pPr>
            <a:r>
              <a:t>8.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4535424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D6F6"/>
                </a:solidFill>
                <a:latin typeface="Calibri"/>
              </a:defRPr>
            </a:pPr>
            <a:r>
              <a:t>Web UI &amp; REST 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97433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67EEA"/>
                </a:solidFill>
                <a:latin typeface="Calibri"/>
              </a:defRPr>
            </a:pPr>
            <a:r>
              <a:t>9.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4974336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D6F6"/>
                </a:solidFill>
                <a:latin typeface="Calibri"/>
              </a:defRPr>
            </a:pPr>
            <a:r>
              <a:t>Database &amp; Analytics Layer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41324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67EEA"/>
                </a:solidFill>
                <a:latin typeface="Calibri"/>
              </a:defRPr>
            </a:pPr>
            <a:r>
              <a:t>10.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541324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D6F6"/>
                </a:solidFill>
                <a:latin typeface="Calibri"/>
              </a:defRPr>
            </a:pPr>
            <a:r>
              <a:t>Live Demo &amp; Results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85216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67EEA"/>
                </a:solidFill>
                <a:latin typeface="Calibri"/>
              </a:defRPr>
            </a:pPr>
            <a:r>
              <a:t>11.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585216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D6F6"/>
                </a:solidFill>
                <a:latin typeface="Calibri"/>
              </a:defRPr>
            </a:pPr>
            <a:r>
              <a:t>Conclusions &amp; Future Work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92B0"/>
                </a:solidFill>
                <a:latin typeface="Calibri"/>
              </a:defRPr>
            </a:pPr>
            <a:r>
              <a:t>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rPr dirty="0"/>
              <a:t> Problem Statement &amp; Motivation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1097280" cy="50800"/>
          </a:xfrm>
          <a:prstGeom prst="rect">
            <a:avLst/>
          </a:prstGeom>
          <a:solidFill>
            <a:srgbClr val="66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5120640" cy="475488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F4444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103120"/>
            <a:ext cx="44805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6F6"/>
                </a:solidFill>
                <a:latin typeface="Calibri"/>
              </a:defRPr>
            </a:pPr>
            <a:r>
              <a:rPr dirty="0"/>
              <a:t>SonarQube detects hundreds of issues — fixing them manually is slow &amp; tedious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44805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6F6"/>
                </a:solidFill>
                <a:latin typeface="Calibri"/>
              </a:defRPr>
            </a:pPr>
            <a:r>
              <a:rPr dirty="0"/>
              <a:t> Developers spend significant time on repetitive low-complexity fixes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291840"/>
            <a:ext cx="44805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6F6"/>
                </a:solidFill>
                <a:latin typeface="Calibri"/>
              </a:defRPr>
            </a:pPr>
            <a:r>
              <a:rPr dirty="0"/>
              <a:t>  Code review bottlenecks delay remediation cycles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886200"/>
            <a:ext cx="44805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6F6"/>
                </a:solidFill>
                <a:latin typeface="Calibri"/>
              </a:defRPr>
            </a:pPr>
            <a:r>
              <a:rPr dirty="0"/>
              <a:t>  Issues often reappear when fixes are incomplete or introduce regressions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303520" cy="475488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16002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  <a:latin typeface="Calibri"/>
              </a:defRPr>
            </a:pPr>
            <a:r>
              <a:t>Our 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103120"/>
            <a:ext cx="4663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6F6"/>
                </a:solidFill>
                <a:latin typeface="Calibri"/>
              </a:defRPr>
            </a:pPr>
            <a:r>
              <a:rPr dirty="0"/>
              <a:t>  Multi-agent LLM pipeline that autonomously fixes SonarQube issues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697480"/>
            <a:ext cx="4663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6F6"/>
                </a:solidFill>
                <a:latin typeface="Calibri"/>
              </a:defRPr>
            </a:pPr>
            <a:r>
              <a:rPr dirty="0"/>
              <a:t>  Each agent is specialized: Fixer, Tester, Reviewer, Evaluator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291840"/>
            <a:ext cx="4663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6F6"/>
                </a:solidFill>
                <a:latin typeface="Calibri"/>
              </a:defRPr>
            </a:pPr>
            <a:r>
              <a:rPr dirty="0"/>
              <a:t> Automated testing + code review ensure fix quality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886200"/>
            <a:ext cx="4663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6F6"/>
                </a:solidFill>
                <a:latin typeface="Calibri"/>
              </a:defRPr>
            </a:pPr>
            <a:r>
              <a:rPr dirty="0"/>
              <a:t>  Post-fix verification via re-scan confirms issues are truly resolved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92B0"/>
                </a:solidFill>
                <a:latin typeface="Calibri"/>
              </a:defRPr>
            </a:pPr>
            <a:r>
              <a:t>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rPr dirty="0"/>
              <a:t> 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1097280" cy="50800"/>
          </a:xfrm>
          <a:prstGeom prst="rect">
            <a:avLst/>
          </a:prstGeom>
          <a:solidFill>
            <a:srgbClr val="66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754880" y="1371600"/>
            <a:ext cx="2560320" cy="640080"/>
          </a:xfrm>
          <a:prstGeom prst="roundRect">
            <a:avLst/>
          </a:prstGeom>
          <a:solidFill>
            <a:srgbClr val="66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754880" y="14173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SonarQube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20116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67EEA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0" y="2377440"/>
            <a:ext cx="4389120" cy="73152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667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0" y="2423160"/>
            <a:ext cx="43891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rPr dirty="0"/>
              <a:t> Coordinator  (retry loop, max 2×)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31089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3B82F6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31089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59E0B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31089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0B981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6080" y="3474720"/>
            <a:ext cx="2286000" cy="118872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26080" y="3520440"/>
            <a:ext cx="228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  <a:latin typeface="Calibri"/>
              </a:defRPr>
            </a:pPr>
            <a:r>
              <a:rPr dirty="0"/>
              <a:t> Fixer 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3977639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92B0"/>
                </a:solidFill>
                <a:latin typeface="Calibri"/>
              </a:defRPr>
            </a:pPr>
            <a:r>
              <a:t>Tool calling</a:t>
            </a:r>
            <a:br/>
            <a:r>
              <a:t>apply_surgical_fix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0" y="3474720"/>
            <a:ext cx="2286000" cy="118872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54880" y="3520440"/>
            <a:ext cx="228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9E0B"/>
                </a:solidFill>
                <a:latin typeface="Calibri"/>
              </a:defRPr>
            </a:pPr>
            <a:r>
              <a:rPr dirty="0"/>
              <a:t> Tester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3977639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92B0"/>
                </a:solidFill>
                <a:latin typeface="Calibri"/>
              </a:defRPr>
            </a:pPr>
            <a:r>
              <a:t>Pytest execution</a:t>
            </a:r>
            <a:br/>
            <a:r>
              <a:t>auto-generated tests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0" y="3474720"/>
            <a:ext cx="2286000" cy="118872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80" y="3520440"/>
            <a:ext cx="228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0B981"/>
                </a:solidFill>
                <a:latin typeface="Calibri"/>
              </a:defRPr>
            </a:pPr>
            <a:r>
              <a:rPr dirty="0"/>
              <a:t>Reviewer 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977639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92B0"/>
                </a:solidFill>
                <a:latin typeface="Calibri"/>
              </a:defRPr>
            </a:pPr>
            <a:r>
              <a:t>Code quality</a:t>
            </a:r>
            <a:br/>
            <a:r>
              <a:t>structured 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46634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F4444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6634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F4444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83280" y="5029200"/>
            <a:ext cx="5303520" cy="118872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383280" y="5074920"/>
            <a:ext cx="5303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F4444"/>
                </a:solidFill>
                <a:latin typeface="Calibri"/>
              </a:defRPr>
            </a:pPr>
            <a:r>
              <a:rPr dirty="0"/>
              <a:t> Evaluator Agent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0" y="553212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D6F6"/>
                </a:solidFill>
                <a:latin typeface="Calibri"/>
              </a:defRPr>
            </a:pPr>
            <a:r>
              <a:t>PASS → commit &amp; resolve    |    RETRY → restore &amp; feedback    |    FAIL → abort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1371600"/>
            <a:ext cx="2286000" cy="484632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48640" y="14630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67EEA"/>
                </a:solidFill>
                <a:latin typeface="Calibri"/>
              </a:defRPr>
            </a:pPr>
            <a:r>
              <a:t>Key Features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192024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6F6"/>
                </a:solidFill>
                <a:latin typeface="Calibri"/>
              </a:defRPr>
            </a:pPr>
            <a:r>
              <a:t>• OpenAI-compatible API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228600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6F6"/>
                </a:solidFill>
                <a:latin typeface="Calibri"/>
              </a:defRPr>
            </a:pPr>
            <a:r>
              <a:t>• Tool calling (function calls)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265176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6F6"/>
                </a:solidFill>
                <a:latin typeface="Calibri"/>
              </a:defRPr>
            </a:pPr>
            <a:r>
              <a:t>• Structured output (Pydantic)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30175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6F6"/>
                </a:solidFill>
                <a:latin typeface="Calibri"/>
              </a:defRPr>
            </a:pPr>
            <a:r>
              <a:t>• Agentic loop with reflection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338328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6F6"/>
                </a:solidFill>
                <a:latin typeface="Calibri"/>
              </a:defRPr>
            </a:pPr>
            <a:r>
              <a:t>• Git branch management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374904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6F6"/>
                </a:solidFill>
                <a:latin typeface="Calibri"/>
              </a:defRPr>
            </a:pPr>
            <a:r>
              <a:t>• SonarQube re-scan verification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92B0"/>
                </a:solidFill>
                <a:latin typeface="Calibri"/>
              </a:defRPr>
            </a:pPr>
            <a:r>
              <a:t>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rPr dirty="0"/>
              <a:t> The 5 Specialized Agents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1097280" cy="50800"/>
          </a:xfrm>
          <a:prstGeom prst="rect">
            <a:avLst/>
          </a:prstGeom>
          <a:solidFill>
            <a:srgbClr val="66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2057400" cy="50292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20574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3B82F6"/>
                </a:solidFill>
                <a:latin typeface="Calibri"/>
              </a:defRPr>
            </a:pPr>
            <a:r>
              <a:rPr dirty="0"/>
              <a:t> Fixer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1874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8892B0"/>
                </a:solidFill>
                <a:latin typeface="Calibri"/>
              </a:defRPr>
            </a:pPr>
            <a:r>
              <a:t>Senior Software Engineer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77440"/>
            <a:ext cx="1783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6F6"/>
                </a:solidFill>
                <a:latin typeface="Calibri"/>
              </a:defRPr>
            </a:pPr>
            <a:r>
              <a:t>Applies surgical code fixes via tool calling.</a:t>
            </a:r>
            <a:br/>
            <a:r>
              <a:t>Uses apply_surgical_fix to replace only the minimal code block.</a:t>
            </a:r>
            <a:br/>
            <a:r>
              <a:t>Supports Python files and Jupyter Notebooks (.ipynb).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98648" y="1417320"/>
            <a:ext cx="2057400" cy="50292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898648" y="1554480"/>
            <a:ext cx="20574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59E0B"/>
                </a:solidFill>
                <a:latin typeface="Calibri"/>
              </a:defRPr>
            </a:pPr>
            <a:r>
              <a:rPr dirty="0"/>
              <a:t> Tester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90088" y="1965960"/>
            <a:ext cx="1874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8892B0"/>
                </a:solidFill>
                <a:latin typeface="Calibri"/>
              </a:defRPr>
            </a:pPr>
            <a:r>
              <a:t>Expert QA Engineer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35808" y="2377440"/>
            <a:ext cx="1783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6F6"/>
                </a:solidFill>
                <a:latin typeface="Calibri"/>
              </a:defRPr>
            </a:pPr>
            <a:r>
              <a:t>Checks if issue is testable → generates pytest tests → executes them.</a:t>
            </a:r>
            <a:br/>
            <a:r>
              <a:t>3-tool workflow: check_testability → execute_test → submit_test_result.</a:t>
            </a:r>
            <a:br/>
            <a:r>
              <a:t>Mocks external dependencies (DB, filesystem, APIs).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57216" y="1417320"/>
            <a:ext cx="2057400" cy="50292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57216" y="1554480"/>
            <a:ext cx="20574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0B981"/>
                </a:solidFill>
                <a:latin typeface="Calibri"/>
              </a:defRPr>
            </a:pPr>
            <a:r>
              <a:rPr dirty="0"/>
              <a:t>📝Reviewer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48656" y="1965960"/>
            <a:ext cx="1874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8892B0"/>
                </a:solidFill>
                <a:latin typeface="Calibri"/>
              </a:defRPr>
            </a:pPr>
            <a:r>
              <a:t>Elite Code Reviewer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94376" y="2377440"/>
            <a:ext cx="1783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6F6"/>
                </a:solidFill>
                <a:latin typeface="Calibri"/>
              </a:defRPr>
            </a:pPr>
            <a:r>
              <a:t>Evaluates readability &amp; maintainability of the fix only.</a:t>
            </a:r>
            <a:br/>
            <a:r>
              <a:t>Uses Pydantic structured output → ReviewResult model.</a:t>
            </a:r>
            <a:br/>
            <a:r>
              <a:t>Ignores pre-existing issues in the surrounding code.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15784" y="1417320"/>
            <a:ext cx="2057400" cy="50292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15784" y="1554480"/>
            <a:ext cx="20574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EF4444"/>
                </a:solidFill>
                <a:latin typeface="Calibri"/>
              </a:defRPr>
            </a:pPr>
            <a:r>
              <a:rPr dirty="0"/>
              <a:t> Evaluator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07224" y="1965960"/>
            <a:ext cx="1874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8892B0"/>
                </a:solidFill>
                <a:latin typeface="Calibri"/>
              </a:defRPr>
            </a:pPr>
            <a:r>
              <a:t>Staff Software Engineer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52944" y="2377440"/>
            <a:ext cx="1783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6F6"/>
                </a:solidFill>
                <a:latin typeface="Calibri"/>
              </a:defRPr>
            </a:pPr>
            <a:r>
              <a:t>Holistic scoring: correctness, safety, readability (1-10 each).</a:t>
            </a:r>
            <a:br/>
            <a:r>
              <a:t>Verdict: PASS (≥7) → merge, RETRY (4-6) → try again, FAIL (&lt;4) → abort.</a:t>
            </a:r>
            <a:br/>
            <a:r>
              <a:t>Uses Pydantic structured output → EvalResult model.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74352" y="1417320"/>
            <a:ext cx="2057400" cy="50292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74352" y="1554480"/>
            <a:ext cx="20574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6B6D4"/>
                </a:solidFill>
                <a:latin typeface="Calibri"/>
              </a:defRPr>
            </a:pPr>
            <a:r>
              <a:rPr dirty="0"/>
              <a:t> Coordinator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65792" y="1965960"/>
            <a:ext cx="1874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8892B0"/>
                </a:solidFill>
                <a:latin typeface="Calibri"/>
              </a:defRPr>
            </a:pPr>
            <a:r>
              <a:t>Pipeline Orchestrator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11512" y="2377440"/>
            <a:ext cx="1783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6F6"/>
                </a:solidFill>
                <a:latin typeface="Calibri"/>
              </a:defRPr>
            </a:pPr>
            <a:r>
              <a:t>Orchestrates all agents with retry logic (max 2 retries).</a:t>
            </a:r>
            <a:br/>
            <a:r>
              <a:t>Manages git branches, file restoration, and commit on PASS.</a:t>
            </a:r>
            <a:br/>
            <a:r>
              <a:t>Writes report.json + persists results to SQLite database.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92B0"/>
                </a:solidFill>
                <a:latin typeface="Calibri"/>
              </a:defRPr>
            </a:pPr>
            <a:r>
              <a:t>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rPr dirty="0"/>
              <a:t> Pipeline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1097280" cy="50800"/>
          </a:xfrm>
          <a:prstGeom prst="rect">
            <a:avLst/>
          </a:prstGeom>
          <a:solidFill>
            <a:srgbClr val="66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447" y="2011680"/>
            <a:ext cx="1371600" cy="146304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667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12367" y="1828800"/>
            <a:ext cx="365760" cy="365760"/>
          </a:xfrm>
          <a:prstGeom prst="ellipse">
            <a:avLst/>
          </a:prstGeom>
          <a:solidFill>
            <a:srgbClr val="66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5167" y="22402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67EEA"/>
                </a:solidFill>
                <a:latin typeface="Calibri"/>
              </a:defRPr>
            </a:pPr>
            <a:r>
              <a:t>Fetch Issues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5167" y="2651760"/>
            <a:ext cx="1280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92B0"/>
                </a:solidFill>
                <a:latin typeface="Calibri"/>
              </a:defRPr>
            </a:pPr>
            <a:r>
              <a:t>SonarQube API</a:t>
            </a:r>
            <a:br/>
            <a:r>
              <a:t>(paginated)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81047" y="25146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7EEA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09647" y="2011680"/>
            <a:ext cx="1371600" cy="146304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8892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2712567" y="1828800"/>
            <a:ext cx="365760" cy="365760"/>
          </a:xfrm>
          <a:prstGeom prst="ellipse">
            <a:avLst/>
          </a:prstGeom>
          <a:solidFill>
            <a:srgbClr val="889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55367" y="22402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8892B0"/>
                </a:solidFill>
                <a:latin typeface="Calibri"/>
              </a:defRPr>
            </a:pPr>
            <a:r>
              <a:t>Select Issues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55367" y="2651760"/>
            <a:ext cx="1280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92B0"/>
                </a:solidFill>
                <a:latin typeface="Calibri"/>
              </a:defRPr>
            </a:pPr>
            <a:r>
              <a:t>User picks issues</a:t>
            </a:r>
            <a:br/>
            <a:r>
              <a:t>(CLI / Web UI)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1247" y="25146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7EEA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09847" y="2011680"/>
            <a:ext cx="1371600" cy="146304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312767" y="1828800"/>
            <a:ext cx="365760" cy="36576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55567" y="22402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B82F6"/>
                </a:solidFill>
                <a:latin typeface="Calibri"/>
              </a:defRPr>
            </a:pPr>
            <a:r>
              <a:t>Fixer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55567" y="2651760"/>
            <a:ext cx="1280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92B0"/>
                </a:solidFill>
                <a:latin typeface="Calibri"/>
              </a:defRPr>
            </a:pPr>
            <a:r>
              <a:t>Tool call:</a:t>
            </a:r>
            <a:br/>
            <a:r>
              <a:t>apply_surgical_fix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81447" y="25146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7EEA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10047" y="2011680"/>
            <a:ext cx="1371600" cy="146304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912967" y="1828800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55767" y="22402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9E0B"/>
                </a:solidFill>
                <a:latin typeface="Calibri"/>
              </a:defRPr>
            </a:pPr>
            <a:r>
              <a:t>Tester Agent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55767" y="2651760"/>
            <a:ext cx="1280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92B0"/>
                </a:solidFill>
                <a:latin typeface="Calibri"/>
              </a:defRPr>
            </a:pPr>
            <a:r>
              <a:t>Generate &amp; run</a:t>
            </a:r>
            <a:br/>
            <a:r>
              <a:t>pytest tests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81647" y="25146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7EEA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10247" y="2011680"/>
            <a:ext cx="1371600" cy="146304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7513167" y="18288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55967" y="22402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0B981"/>
                </a:solidFill>
                <a:latin typeface="Calibri"/>
              </a:defRPr>
            </a:pPr>
            <a:r>
              <a:t>Reviewer Agent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55967" y="2651760"/>
            <a:ext cx="1280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92B0"/>
                </a:solidFill>
                <a:latin typeface="Calibri"/>
              </a:defRPr>
            </a:pPr>
            <a:r>
              <a:t>Structured review</a:t>
            </a:r>
            <a:br/>
            <a:r>
              <a:t>Readability / PEP8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1847" y="25146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7EEA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610447" y="2011680"/>
            <a:ext cx="1371600" cy="146304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9113367" y="1828800"/>
            <a:ext cx="365760" cy="36576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56167" y="22402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F4444"/>
                </a:solidFill>
                <a:latin typeface="Calibri"/>
              </a:defRPr>
            </a:pPr>
            <a:r>
              <a:t>Evaluator Agent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56167" y="2651760"/>
            <a:ext cx="1280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92B0"/>
                </a:solidFill>
                <a:latin typeface="Calibri"/>
              </a:defRPr>
            </a:pPr>
            <a:r>
              <a:t>Score &amp; verdict</a:t>
            </a:r>
            <a:br/>
            <a:r>
              <a:t>PASS/RETRY/FAIL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82047" y="25146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7EEA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210647" y="2011680"/>
            <a:ext cx="1371600" cy="146304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10713567" y="1828800"/>
            <a:ext cx="365760" cy="36576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56367" y="22402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6B6D4"/>
                </a:solidFill>
                <a:latin typeface="Calibri"/>
              </a:defRPr>
            </a:pPr>
            <a:r>
              <a:t>Commit &amp; Verify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56367" y="2651760"/>
            <a:ext cx="1280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92B0"/>
                </a:solidFill>
                <a:latin typeface="Calibri"/>
              </a:defRPr>
            </a:pPr>
            <a:r>
              <a:t>Git commit + SonarQube</a:t>
            </a:r>
            <a:br/>
            <a:r>
              <a:t>re-scan verification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371600" y="3931920"/>
            <a:ext cx="9418320" cy="22860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645920" y="4069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67EEA"/>
                </a:solidFill>
                <a:latin typeface="Calibri"/>
              </a:defRPr>
            </a:pPr>
            <a:r>
              <a:t>🔄 Retry Logic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28800" y="452628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6F6"/>
                </a:solidFill>
                <a:latin typeface="Calibri"/>
              </a:defRPr>
            </a:pPr>
            <a:r>
              <a:t>•  If Evaluator returns RETRY → file is restored via git, feedback is collected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486460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6F6"/>
                </a:solidFill>
                <a:latin typeface="Calibri"/>
              </a:defRPr>
            </a:pPr>
            <a:r>
              <a:t>•  Fixer receives reflection messages from previous attempts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828800" y="5202936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6F6"/>
                </a:solidFill>
                <a:latin typeface="Calibri"/>
              </a:defRPr>
            </a:pPr>
            <a:r>
              <a:t>•  Up to 2 retries (3 total attempts) before marking issue as FAILED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828800" y="5541264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6F6"/>
                </a:solidFill>
                <a:latin typeface="Calibri"/>
              </a:defRPr>
            </a:pPr>
            <a:r>
              <a:t>•  If Evaluator returns PASS → changes are committed to a dedicated branch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828800" y="587959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6F6"/>
                </a:solidFill>
                <a:latin typeface="Calibri"/>
              </a:defRPr>
            </a:pPr>
            <a:r>
              <a:t>•  If Evaluator returns FAIL → file is restored and issue is aborted immediately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92B0"/>
                </a:solidFill>
                <a:latin typeface="Calibri"/>
              </a:defRPr>
            </a:pPr>
            <a:r>
              <a:t>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rPr dirty="0"/>
              <a:t>Tool Calling &amp; Structured Output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1097280" cy="50800"/>
          </a:xfrm>
          <a:prstGeom prst="rect">
            <a:avLst/>
          </a:prstGeom>
          <a:solidFill>
            <a:srgbClr val="66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5303520" cy="49377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B82F6"/>
                </a:solidFill>
                <a:latin typeface="Calibri"/>
              </a:defRPr>
            </a:pPr>
            <a:r>
              <a:rPr dirty="0"/>
              <a:t> Tool Calling (Function Calling)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67EEA"/>
                </a:solidFill>
                <a:latin typeface="Calibri"/>
              </a:defRPr>
            </a:pPr>
            <a:r>
              <a:t>Fixer Agent — apply_surgical_fix()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514600"/>
            <a:ext cx="4663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6F6"/>
                </a:solidFill>
                <a:latin typeface="Calibri"/>
              </a:defRPr>
            </a:pPr>
            <a:r>
              <a:t>Receives file_path, old_code, new_code, explanation</a:t>
            </a:r>
            <a:br/>
            <a:r>
              <a:t>Performs find-and-replace with fallback matching strategies</a:t>
            </a:r>
            <a:br/>
            <a:r>
              <a:t>Supports .py files and .ipynb notebooks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290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67EEA"/>
                </a:solidFill>
                <a:latin typeface="Calibri"/>
              </a:defRPr>
            </a:pPr>
            <a:r>
              <a:t>Tester Agent — 3 tools: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749040"/>
            <a:ext cx="4663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6F6"/>
                </a:solidFill>
                <a:latin typeface="Calibri"/>
              </a:defRPr>
            </a:pPr>
            <a:r>
              <a:t>check_testability() — decides if unit test is viable</a:t>
            </a:r>
            <a:br/>
            <a:r>
              <a:t>execute_test() — writes + runs pytest in subprocess</a:t>
            </a:r>
            <a:br/>
            <a:r>
              <a:t>submit_test_result() — final structured verdict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6634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67EEA"/>
                </a:solidFill>
                <a:latin typeface="Calibri"/>
              </a:defRPr>
            </a:pPr>
            <a:r>
              <a:t>Agentic Loop: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983480"/>
            <a:ext cx="4663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6F6"/>
                </a:solidFill>
                <a:latin typeface="Calibri"/>
              </a:defRPr>
            </a:pPr>
            <a:r>
              <a:t>LLM calls tools iteratively until task is complete</a:t>
            </a:r>
            <a:br/>
            <a:r>
              <a:t>Max 5 tool calls (Fixer) / 7 tool calls (Tester)</a:t>
            </a:r>
            <a:br/>
            <a:r>
              <a:t>Base Agent class handles dispatch via tool_mapping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303520" cy="49377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16002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  <a:latin typeface="Calibri"/>
              </a:defRPr>
            </a:pPr>
            <a:r>
              <a:rPr dirty="0"/>
              <a:t> Structured Output (</a:t>
            </a:r>
            <a:r>
              <a:rPr dirty="0" err="1"/>
              <a:t>Pydantic</a:t>
            </a:r>
            <a:r>
              <a:rPr dirty="0"/>
              <a:t>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1945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67EEA"/>
                </a:solidFill>
                <a:latin typeface="Calibri"/>
              </a:defRPr>
            </a:pPr>
            <a:r>
              <a:t>ReviewResult Model: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560320"/>
            <a:ext cx="4663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6B6D4"/>
                </a:solidFill>
                <a:latin typeface="Consolas"/>
              </a:defRPr>
            </a:pPr>
            <a:r>
              <a:t>class ReviewResult(BaseModel):</a:t>
            </a:r>
            <a:br/>
            <a:r>
              <a:t>    readability_score: int       # 1-10</a:t>
            </a:r>
            <a:br/>
            <a:r>
              <a:t>    maintainability_score: int   # 1-10</a:t>
            </a:r>
            <a:br/>
            <a:r>
              <a:t>    suggestions: List[str]</a:t>
            </a:r>
            <a:br/>
            <a:r>
              <a:t>    is_acceptable: bool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9319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67EEA"/>
                </a:solidFill>
                <a:latin typeface="Calibri"/>
              </a:defRPr>
            </a:pPr>
            <a:r>
              <a:t>EvalResult Model: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4297680"/>
            <a:ext cx="4663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6B6D4"/>
                </a:solidFill>
                <a:latin typeface="Consolas"/>
              </a:defRPr>
            </a:pPr>
            <a:r>
              <a:t>class EvalResult(BaseModel):</a:t>
            </a:r>
            <a:br/>
            <a:r>
              <a:t>    correctness_score: int       # 1-10</a:t>
            </a:r>
            <a:br/>
            <a:r>
              <a:t>    safety_score: int            # 1-10</a:t>
            </a:r>
            <a:br/>
            <a:r>
              <a:t>    readability_score: int       # 1-10</a:t>
            </a:r>
            <a:br/>
            <a:r>
              <a:t>    verdict: Literal["PASS","RETRY","FAIL"]</a:t>
            </a:r>
            <a:br/>
            <a:r>
              <a:t>    reasoning: str</a:t>
            </a:r>
            <a:br/>
            <a:r>
              <a:t>    overall_score: computed_field  # avg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566928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2B0"/>
                </a:solidFill>
                <a:latin typeface="Calibri"/>
              </a:defRPr>
            </a:pPr>
            <a:r>
              <a:t>Uses client.beta.chat.completions.parse()</a:t>
            </a:r>
            <a:br/>
            <a:r>
              <a:t>→ Guarantees JSON schema compliance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92B0"/>
                </a:solidFill>
                <a:latin typeface="Calibri"/>
              </a:defRPr>
            </a:pPr>
            <a:r>
              <a:t>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rPr dirty="0"/>
              <a:t> Technology Stack &amp; Deployment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1097280" cy="50800"/>
          </a:xfrm>
          <a:prstGeom prst="rect">
            <a:avLst/>
          </a:prstGeom>
          <a:solidFill>
            <a:srgbClr val="66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2560320" cy="475488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667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67EEA"/>
                </a:solidFill>
                <a:latin typeface="Calibri"/>
              </a:defRPr>
            </a:pPr>
            <a:r>
              <a:t>LLM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031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6F6"/>
                </a:solidFill>
                <a:latin typeface="Calibri"/>
              </a:defRPr>
            </a:pPr>
            <a:r>
              <a:t>•  OpenAI Python SDK (compatible with any OpenAI-like API)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7889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6F6"/>
                </a:solidFill>
                <a:latin typeface="Calibri"/>
              </a:defRPr>
            </a:pPr>
            <a:r>
              <a:t>•  Supports: OpenAI, Ollama, OpenRouter, LM Studio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4747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6F6"/>
                </a:solidFill>
                <a:latin typeface="Calibri"/>
              </a:defRPr>
            </a:pPr>
            <a:r>
              <a:t>•  Tool calling + Structured output (Pydantic)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7288" y="1463040"/>
            <a:ext cx="2560320" cy="475488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47288" y="15544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B82F6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84448" y="21031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6F6"/>
                </a:solidFill>
                <a:latin typeface="Calibri"/>
              </a:defRPr>
            </a:pPr>
            <a:r>
              <a:t>•  Python 3.12+ with type hints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84448" y="27889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6F6"/>
                </a:solidFill>
                <a:latin typeface="Calibri"/>
              </a:defRPr>
            </a:pPr>
            <a:r>
              <a:t>•  FastAPI for REST API endpoints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4448" y="34747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6F6"/>
                </a:solidFill>
                <a:latin typeface="Calibri"/>
              </a:defRPr>
            </a:pPr>
            <a:r>
              <a:t>•  SQLAlchemy ORM with SQLite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54496" y="1463040"/>
            <a:ext cx="2560320" cy="475488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54496" y="15544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1656" y="21031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6F6"/>
                </a:solidFill>
                <a:latin typeface="Calibri"/>
              </a:defRPr>
            </a:pPr>
            <a:r>
              <a:t>•  Streamlit — 4-page interactive 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1656" y="27889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6F6"/>
                </a:solidFill>
                <a:latin typeface="Calibri"/>
              </a:defRPr>
            </a:pPr>
            <a:r>
              <a:t>•  Custom CSS with glassmorphism + gradient design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1656" y="34747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6F6"/>
                </a:solidFill>
                <a:latin typeface="Calibri"/>
              </a:defRPr>
            </a:pPr>
            <a:r>
              <a:t>•  Real-time pipeline progress polling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61704" y="1463040"/>
            <a:ext cx="2560320" cy="475488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061704" y="15544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59E0B"/>
                </a:solidFill>
                <a:latin typeface="Calibri"/>
              </a:defRPr>
            </a:pPr>
            <a:r>
              <a:t>DevOps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98864" y="21031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6F6"/>
                </a:solidFill>
                <a:latin typeface="Calibri"/>
              </a:defRPr>
            </a:pPr>
            <a:r>
              <a:t>•  Docker + docker-compose (full stack)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98864" y="27889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6F6"/>
                </a:solidFill>
                <a:latin typeface="Calibri"/>
              </a:defRPr>
            </a:pPr>
            <a:r>
              <a:t>•  SonarQube Community Edition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98864" y="34747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6F6"/>
                </a:solidFill>
                <a:latin typeface="Calibri"/>
              </a:defRPr>
            </a:pPr>
            <a:r>
              <a:t>•  sonar-scanner CLI for analysis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92B0"/>
                </a:solidFill>
                <a:latin typeface="Calibri"/>
              </a:defRPr>
            </a:pPr>
            <a:r>
              <a:t>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rPr dirty="0"/>
              <a:t> Web UI &amp; REST API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1097280" cy="50800"/>
          </a:xfrm>
          <a:prstGeom prst="rect">
            <a:avLst/>
          </a:prstGeom>
          <a:solidFill>
            <a:srgbClr val="66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5486400" cy="49377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Calibri"/>
              </a:defRPr>
            </a:pPr>
            <a:r>
              <a:rPr dirty="0"/>
              <a:t> </a:t>
            </a:r>
            <a:r>
              <a:rPr dirty="0" err="1"/>
              <a:t>Streamlit</a:t>
            </a:r>
            <a:r>
              <a:rPr dirty="0"/>
              <a:t> Dashboard (4 Pages)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5029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67EEA"/>
                </a:solidFill>
                <a:latin typeface="Calibri"/>
              </a:defRPr>
            </a:pPr>
            <a:r>
              <a:rPr dirty="0"/>
              <a:t>🏠Dashboard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6F6"/>
                </a:solidFill>
                <a:latin typeface="Calibri"/>
              </a:defRPr>
            </a:pPr>
            <a:r>
              <a:t>Overview with metrics, cost breakdown, recent runs</a:t>
            </a:r>
            <a:br/>
            <a:r>
              <a:t>Verification status badges (VERIFIED / UNVERIFIED)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17520"/>
            <a:ext cx="5029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67EEA"/>
                </a:solidFill>
                <a:latin typeface="Calibri"/>
              </a:defRPr>
            </a:pPr>
            <a:r>
              <a:rPr dirty="0"/>
              <a:t>Run 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29184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6F6"/>
                </a:solidFill>
                <a:latin typeface="Calibri"/>
              </a:defRPr>
            </a:pPr>
            <a:r>
              <a:t>Configure repo → clone &amp; scan → preview issues</a:t>
            </a:r>
            <a:br/>
            <a:r>
              <a:t>Select issues → launch pipeline → live progress bar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931920"/>
            <a:ext cx="5029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67EEA"/>
                </a:solidFill>
                <a:latin typeface="Calibri"/>
              </a:defRPr>
            </a:pPr>
            <a:r>
              <a:rPr dirty="0"/>
              <a:t> Issues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20624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6F6"/>
                </a:solidFill>
                <a:latin typeface="Calibri"/>
              </a:defRPr>
            </a:pPr>
            <a:r>
              <a:t>Browse SonarQube issues for any project</a:t>
            </a:r>
            <a:br/>
            <a:r>
              <a:t>Color-coded severity (BLOCKER → INFO)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846320"/>
            <a:ext cx="5029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67EEA"/>
                </a:solidFill>
                <a:latin typeface="Calibri"/>
              </a:defRPr>
            </a:pPr>
            <a:r>
              <a:rPr dirty="0"/>
              <a:t> Analytics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12064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6F6"/>
                </a:solidFill>
                <a:latin typeface="Calibri"/>
              </a:defRPr>
            </a:pPr>
            <a:r>
              <a:t>Token usage, costs, success rates</a:t>
            </a:r>
            <a:br/>
            <a:r>
              <a:t>Cost by agent breakdown with progress bars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463040"/>
            <a:ext cx="5212080" cy="49377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75120" y="16002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Calibri"/>
              </a:defRPr>
            </a:pPr>
            <a:r>
              <a:rPr dirty="0"/>
              <a:t> </a:t>
            </a:r>
            <a:r>
              <a:rPr dirty="0" err="1"/>
              <a:t>FastAPI</a:t>
            </a:r>
            <a:r>
              <a:rPr dirty="0"/>
              <a:t> REST Endpoints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1488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Calibri"/>
              </a:defRPr>
            </a:pPr>
            <a:r>
              <a:t>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21488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6B6D4"/>
                </a:solidFill>
                <a:latin typeface="Consolas"/>
              </a:defRPr>
            </a:pPr>
            <a:r>
              <a:t>/issues/{project_key}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21488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2B0"/>
                </a:solidFill>
                <a:latin typeface="Calibri"/>
              </a:defRPr>
            </a:pPr>
            <a:r>
              <a:t>Fetch open issues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25146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Calibri"/>
              </a:defRPr>
            </a:pPr>
            <a:r>
              <a:t>POST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2514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6B6D4"/>
                </a:solidFill>
                <a:latin typeface="Consolas"/>
              </a:defRPr>
            </a:pPr>
            <a:r>
              <a:t>/pipeline/run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2514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2B0"/>
                </a:solidFill>
                <a:latin typeface="Calibri"/>
              </a:defRPr>
            </a:pPr>
            <a:r>
              <a:t>Trigger async pipeline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8803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Calibri"/>
              </a:defRPr>
            </a:pPr>
            <a:r>
              <a:t>GET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28803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6B6D4"/>
                </a:solidFill>
                <a:latin typeface="Consolas"/>
              </a:defRPr>
            </a:pPr>
            <a:r>
              <a:t>/pipeline/status/{id}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880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2B0"/>
                </a:solidFill>
                <a:latin typeface="Calibri"/>
              </a:defRPr>
            </a:pPr>
            <a:r>
              <a:t>Check progress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32461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Calibri"/>
              </a:defRPr>
            </a:pPr>
            <a:r>
              <a:t>POST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32461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6B6D4"/>
                </a:solidFill>
                <a:latin typeface="Consolas"/>
              </a:defRPr>
            </a:pPr>
            <a:r>
              <a:t>/pipeline/verify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3246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2B0"/>
                </a:solidFill>
                <a:latin typeface="Calibri"/>
              </a:defRPr>
            </a:pPr>
            <a:r>
              <a:t>Run verification scan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361188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Calibri"/>
              </a:defRPr>
            </a:pPr>
            <a:r>
              <a:t>POST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36118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6B6D4"/>
                </a:solidFill>
                <a:latin typeface="Consolas"/>
              </a:defRPr>
            </a:pPr>
            <a:r>
              <a:t>/scan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3611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2B0"/>
                </a:solidFill>
                <a:latin typeface="Calibri"/>
              </a:defRPr>
            </a:pPr>
            <a:r>
              <a:t>Clone + SonarQube scan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39776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Calibri"/>
              </a:defRPr>
            </a:pPr>
            <a:r>
              <a:t>GET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3977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6B6D4"/>
                </a:solidFill>
                <a:latin typeface="Consolas"/>
              </a:defRPr>
            </a:pPr>
            <a:r>
              <a:t>/runs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0" y="3977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2B0"/>
                </a:solidFill>
                <a:latin typeface="Calibri"/>
              </a:defRPr>
            </a:pPr>
            <a:r>
              <a:t>List recent runs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43434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Calibri"/>
              </a:defRPr>
            </a:pPr>
            <a:r>
              <a:t>GET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0" y="4343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6B6D4"/>
                </a:solidFill>
                <a:latin typeface="Consolas"/>
              </a:defRPr>
            </a:pPr>
            <a:r>
              <a:t>/analytics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0" y="4343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2B0"/>
                </a:solidFill>
                <a:latin typeface="Calibri"/>
              </a:defRPr>
            </a:pPr>
            <a:r>
              <a:t>Token usage &amp; costs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498348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6F6"/>
                </a:solidFill>
                <a:latin typeface="Calibri"/>
              </a:defRPr>
            </a:pPr>
            <a:r>
              <a:t>Async pipeline execution with background threading</a:t>
            </a:r>
            <a:br/>
            <a:r>
              <a:t>Session-based status tracking for real-time UI updates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92B0"/>
                </a:solidFill>
                <a:latin typeface="Calibri"/>
              </a:defRPr>
            </a:pPr>
            <a:r>
              <a:t>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rPr dirty="0"/>
              <a:t> Database &amp; Analytics Layer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1097280" cy="50800"/>
          </a:xfrm>
          <a:prstGeom prst="rect">
            <a:avLst/>
          </a:prstGeom>
          <a:solidFill>
            <a:srgbClr val="66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3383280" cy="41148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667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3383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67EEA"/>
                </a:solidFill>
                <a:latin typeface="Calibri"/>
              </a:defRPr>
            </a:pPr>
            <a:r>
              <a:rPr dirty="0"/>
              <a:t> issues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6F6"/>
                </a:solidFill>
                <a:latin typeface="Calibri"/>
              </a:defRPr>
            </a:pPr>
            <a:r>
              <a:t>•  key (unique, indexed)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3230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6F6"/>
                </a:solidFill>
                <a:latin typeface="Calibri"/>
              </a:defRPr>
            </a:pPr>
            <a:r>
              <a:t>•  rule, severity, component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6148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6F6"/>
                </a:solidFill>
                <a:latin typeface="Calibri"/>
              </a:defRPr>
            </a:pPr>
            <a:r>
              <a:t>•  file_path, line, message, 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9067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6F6"/>
                </a:solidFill>
                <a:latin typeface="Calibri"/>
              </a:defRPr>
            </a:pPr>
            <a:r>
              <a:t>•  status: OPEN → FIXED | FAILED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419856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6F6"/>
                </a:solidFill>
                <a:latin typeface="Calibri"/>
              </a:defRPr>
            </a:pPr>
            <a:r>
              <a:t>•  first_seen_at, last_updated_at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463040"/>
            <a:ext cx="3383280" cy="41148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97680" y="1554480"/>
            <a:ext cx="3383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B82F6"/>
                </a:solidFill>
                <a:latin typeface="Calibri"/>
              </a:defRPr>
            </a:pPr>
            <a:r>
              <a:rPr dirty="0"/>
              <a:t> </a:t>
            </a:r>
            <a:r>
              <a:rPr dirty="0" err="1"/>
              <a:t>pipeline_runs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4480560" y="21031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6F6"/>
                </a:solidFill>
                <a:latin typeface="Calibri"/>
              </a:defRPr>
            </a:pPr>
            <a:r>
              <a:t>•  issue_key (FK → issues.key)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43230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6F6"/>
                </a:solidFill>
                <a:latin typeface="Calibri"/>
              </a:defRPr>
            </a:pPr>
            <a:r>
              <a:t>•  session_branch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76148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6F6"/>
                </a:solidFill>
                <a:latin typeface="Calibri"/>
              </a:defRPr>
            </a:pPr>
            <a:r>
              <a:t>•  verdict: IN_PROGRESS → SUCCESS | FAIL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309067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6F6"/>
                </a:solidFill>
                <a:latin typeface="Calibri"/>
              </a:defRPr>
            </a:pPr>
            <a:r>
              <a:t>•  attempts count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3419856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6F6"/>
                </a:solidFill>
                <a:latin typeface="Calibri"/>
              </a:defRPr>
            </a:pPr>
            <a:r>
              <a:t>•  verified: None | True | False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37490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6F6"/>
                </a:solidFill>
                <a:latin typeface="Calibri"/>
              </a:defRPr>
            </a:pPr>
            <a:r>
              <a:t>•  started_at, completed_at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55280" y="1463040"/>
            <a:ext cx="3383280" cy="41148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955280" y="1554480"/>
            <a:ext cx="3383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  <a:latin typeface="Calibri"/>
              </a:defRPr>
            </a:pPr>
            <a:r>
              <a:rPr dirty="0"/>
              <a:t> </a:t>
            </a:r>
            <a:r>
              <a:rPr dirty="0" err="1"/>
              <a:t>token_usage</a:t>
            </a:r>
            <a:endParaRPr dirty="0"/>
          </a:p>
        </p:txBody>
      </p:sp>
      <p:sp>
        <p:nvSpPr>
          <p:cNvPr id="21" name="TextBox 20"/>
          <p:cNvSpPr txBox="1"/>
          <p:nvPr/>
        </p:nvSpPr>
        <p:spPr>
          <a:xfrm>
            <a:off x="8138160" y="21031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6F6"/>
                </a:solidFill>
                <a:latin typeface="Calibri"/>
              </a:defRPr>
            </a:pPr>
            <a:r>
              <a:t>•  run_id (FK → pipeline_runs.id)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243230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6F6"/>
                </a:solidFill>
                <a:latin typeface="Calibri"/>
              </a:defRPr>
            </a:pPr>
            <a:r>
              <a:t>•  agent_name, model_name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276148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6F6"/>
                </a:solidFill>
                <a:latin typeface="Calibri"/>
              </a:defRPr>
            </a:pPr>
            <a:r>
              <a:t>•  prompt_tokens, completion_tokens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309067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6F6"/>
                </a:solidFill>
                <a:latin typeface="Calibri"/>
              </a:defRPr>
            </a:pPr>
            <a:r>
              <a:t>•  total_tokens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3419856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6F6"/>
                </a:solidFill>
                <a:latin typeface="Calibri"/>
              </a:defRPr>
            </a:pPr>
            <a:r>
              <a:t>•  estimated_cost_usd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37490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6F6"/>
                </a:solidFill>
                <a:latin typeface="Calibri"/>
              </a:defRPr>
            </a:pPr>
            <a:r>
              <a:t>•  called_at timestamp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760720"/>
            <a:ext cx="10789920" cy="8229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667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4400" y="5806440"/>
            <a:ext cx="103327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67EEA"/>
                </a:solidFill>
                <a:latin typeface="Calibri"/>
              </a:defRPr>
            </a:pPr>
            <a:r>
              <a:rPr dirty="0"/>
              <a:t>Analytics API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61264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6F6"/>
                </a:solidFill>
                <a:latin typeface="Calibri"/>
              </a:defRPr>
            </a:pPr>
            <a:r>
              <a:t>Auto-computed: success_rate_pct • avg_attempts • total_tokens • total_cost_usd • cost_by_agent • verification_stats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92B0"/>
                </a:solidFill>
                <a:latin typeface="Calibri"/>
              </a:defRPr>
            </a:pPr>
            <a:r>
              <a:t>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rPr dirty="0"/>
              <a:t> Base Agent Class &amp; Token Tracking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1097280" cy="50800"/>
          </a:xfrm>
          <a:prstGeom prst="rect">
            <a:avLst/>
          </a:prstGeom>
          <a:solidFill>
            <a:srgbClr val="66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5303520" cy="49377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667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846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67EEA"/>
                </a:solidFill>
                <a:latin typeface="Calibri"/>
              </a:defRPr>
            </a:pPr>
            <a:r>
              <a:rPr dirty="0"/>
              <a:t> Agent Base Class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7EEA"/>
                </a:solidFill>
                <a:latin typeface="Calibri"/>
              </a:defRPr>
            </a:pPr>
            <a:r>
              <a:t>▸ Shared OpenAI Client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6F6"/>
                </a:solidFill>
                <a:latin typeface="Calibri"/>
              </a:defRPr>
            </a:pPr>
            <a:r>
              <a:t>All agents inherit a common OpenAI client</a:t>
            </a:r>
            <a:br/>
            <a:r>
              <a:t>configured with model, base_url, and api_key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0779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7EEA"/>
                </a:solidFill>
                <a:latin typeface="Calibri"/>
              </a:defRPr>
            </a:pPr>
            <a:r>
              <a:t>▸ _tracked_call()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182112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6F6"/>
                </a:solidFill>
                <a:latin typeface="Calibri"/>
              </a:defRPr>
            </a:pPr>
            <a:r>
              <a:t>Wraps chat.completions.create()</a:t>
            </a:r>
            <a:br/>
            <a:r>
              <a:t>Automatically logs token usage to DB after each call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1246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7EEA"/>
                </a:solidFill>
                <a:latin typeface="Calibri"/>
              </a:defRPr>
            </a:pPr>
            <a:r>
              <a:t>▸ _tracked_parse()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986784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6F6"/>
                </a:solidFill>
                <a:latin typeface="Calibri"/>
              </a:defRPr>
            </a:pPr>
            <a:r>
              <a:t>Wraps beta.chat.completions.parse()</a:t>
            </a:r>
            <a:br/>
            <a:r>
              <a:t>Same telemetry for Pydantic structured output calls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51713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7EEA"/>
                </a:solidFill>
                <a:latin typeface="Calibri"/>
              </a:defRPr>
            </a:pPr>
            <a:r>
              <a:t>▸ handle_tool_call()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791456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6F6"/>
                </a:solidFill>
                <a:latin typeface="Calibri"/>
              </a:defRPr>
            </a:pPr>
            <a:r>
              <a:t>Generic tool dispatcher — maps tool names to methods</a:t>
            </a:r>
            <a:br/>
            <a:r>
              <a:t>Subclasses define tool_mapping dictionary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32180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7EEA"/>
                </a:solidFill>
                <a:latin typeface="Calibri"/>
              </a:defRPr>
            </a:pPr>
            <a:r>
              <a:t>▸ Colored Logging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596128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6F6"/>
                </a:solidFill>
                <a:latin typeface="Calibri"/>
              </a:defRPr>
            </a:pPr>
            <a:r>
              <a:t>Each agent has a unique terminal color</a:t>
            </a:r>
            <a:br/>
            <a:r>
              <a:t>Consistent [AgentName] prefix for easy debugging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463040"/>
            <a:ext cx="5303520" cy="49377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2240" y="1600200"/>
            <a:ext cx="4846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  <a:latin typeface="Calibri"/>
              </a:defRPr>
            </a:pPr>
            <a:r>
              <a:rPr dirty="0"/>
              <a:t> Cost Estimation 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1488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67EEA"/>
                </a:solidFill>
                <a:latin typeface="Calibri"/>
              </a:defRPr>
            </a:pPr>
            <a:r>
              <a:t>Pricing Table (USD per 1K tokens):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260604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6F6"/>
                </a:solidFill>
                <a:latin typeface="Consolas"/>
              </a:defRPr>
            </a:pPr>
            <a:r>
              <a:t>GPT-4o             $0.0025 / $0.010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290779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6F6"/>
                </a:solidFill>
                <a:latin typeface="Consolas"/>
              </a:defRPr>
            </a:pPr>
            <a:r>
              <a:t>GPT-4o-mini        $0.00015 / $0.0006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3209544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6F6"/>
                </a:solidFill>
                <a:latin typeface="Consolas"/>
              </a:defRPr>
            </a:pPr>
            <a:r>
              <a:t>GPT-5-nano         $0.00015 / $0.0006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511296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6F6"/>
                </a:solidFill>
                <a:latin typeface="Consolas"/>
              </a:defRPr>
            </a:pPr>
            <a:r>
              <a:t>Claude 3.5 Sonnet  $0.003 / $0.015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81304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6F6"/>
                </a:solidFill>
                <a:latin typeface="Consolas"/>
              </a:defRPr>
            </a:pPr>
            <a:r>
              <a:t>Claude 3 Opus      $0.015 / $0.075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411480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D6F6"/>
                </a:solidFill>
                <a:latin typeface="Consolas"/>
              </a:defRPr>
            </a:pPr>
            <a:r>
              <a:t>Llama / Mistral    $0.00 (local/free)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599432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6F6"/>
                </a:solidFill>
                <a:latin typeface="Calibri"/>
              </a:defRPr>
            </a:pPr>
            <a:r>
              <a:t>• Model matched by substring (case-insensitive)</a:t>
            </a:r>
            <a:br/>
            <a:r>
              <a:t>• Cost = (prompt_tokens/1000 × input_price) + </a:t>
            </a:r>
            <a:br/>
            <a:r>
              <a:t>         (completion_tokens/1000 × output_price)</a:t>
            </a:r>
            <a:br/>
            <a:r>
              <a:t>• Unknown models → logged as $0.00 with warning</a:t>
            </a:r>
            <a:br/>
            <a:r>
              <a:t>• All calls persisted per-agent, per-run in token_usage table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92B0"/>
                </a:solidFill>
                <a:latin typeface="Calibri"/>
              </a:defRPr>
            </a:pPr>
            <a:r>
              <a:t>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🏁 Conclusions &amp; Future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1097280" cy="50800"/>
          </a:xfrm>
          <a:prstGeom prst="rect">
            <a:avLst/>
          </a:prstGeom>
          <a:solidFill>
            <a:srgbClr val="66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5303520" cy="484632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846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  <a:latin typeface="Calibri"/>
              </a:defRPr>
            </a:pPr>
            <a:r>
              <a:rPr dirty="0"/>
              <a:t> Key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6F6"/>
                </a:solidFill>
                <a:latin typeface="Calibri"/>
              </a:defRPr>
            </a:pPr>
            <a:r>
              <a:t>•  Successfully built a fully agentic pipeline that automates the entire SonarQube remediation cycle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33472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6F6"/>
                </a:solidFill>
                <a:latin typeface="Calibri"/>
              </a:defRPr>
            </a:pPr>
            <a:r>
              <a:t>•  Multi-agent architecture with specialized roles mirrors real-world engineering teams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63824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6F6"/>
                </a:solidFill>
                <a:latin typeface="Calibri"/>
              </a:defRPr>
            </a:pPr>
            <a:r>
              <a:t>•  Tool calling enables agents to interact with the codebase, execute tests, and manage git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94176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6F6"/>
                </a:solidFill>
                <a:latin typeface="Calibri"/>
              </a:defRPr>
            </a:pPr>
            <a:r>
              <a:t>•  Structured output with Pydantic guarantees predictable, parseable agent responses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24528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6F6"/>
                </a:solidFill>
                <a:latin typeface="Calibri"/>
              </a:defRPr>
            </a:pPr>
            <a:r>
              <a:t>•  Retry logic with reflection enables agents to learn from previous failed attempts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75488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6F6"/>
                </a:solidFill>
                <a:latin typeface="Calibri"/>
              </a:defRPr>
            </a:pPr>
            <a:r>
              <a:t>•  End-to-end verification via SonarQube re-scan confirms fixes are real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285232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6F6"/>
                </a:solidFill>
                <a:latin typeface="Calibri"/>
              </a:defRPr>
            </a:pPr>
            <a:r>
              <a:t>•  Full observability: token tracking, cost analytics, and success rate monitoring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463040"/>
            <a:ext cx="5303520" cy="484632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667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40" y="1600200"/>
            <a:ext cx="4846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67EEA"/>
                </a:solidFill>
                <a:latin typeface="Calibri"/>
              </a:defRPr>
            </a:pPr>
            <a:r>
              <a:rPr dirty="0"/>
              <a:t> Future 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10312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6F6"/>
                </a:solidFill>
                <a:latin typeface="Calibri"/>
              </a:defRPr>
            </a:pPr>
            <a:r>
              <a:t>•  Support additional languages beyond Python (Java, JS/TS, C#)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633472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6F6"/>
                </a:solidFill>
                <a:latin typeface="Calibri"/>
              </a:defRPr>
            </a:pPr>
            <a:r>
              <a:t>•  Multi-file fixes — handle issues spanning multiple files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163824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6F6"/>
                </a:solidFill>
                <a:latin typeface="Calibri"/>
              </a:defRPr>
            </a:pPr>
            <a:r>
              <a:t>•  RAG-based context retrieval for larger codebases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694176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6F6"/>
                </a:solidFill>
                <a:latin typeface="Calibri"/>
              </a:defRPr>
            </a:pPr>
            <a:r>
              <a:t>•  Integration with CI/CD pipelines (GitHub Actions, GitLab CI)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224528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6F6"/>
                </a:solidFill>
                <a:latin typeface="Calibri"/>
              </a:defRPr>
            </a:pPr>
            <a:r>
              <a:t>•  Agent memory — learn from past fixes for similar rules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75488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6F6"/>
                </a:solidFill>
                <a:latin typeface="Calibri"/>
              </a:defRPr>
            </a:pPr>
            <a:r>
              <a:t>•  Fine-tuned models for specific SonarQube rule categories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5285232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6F6"/>
                </a:solidFill>
                <a:latin typeface="Calibri"/>
              </a:defRPr>
            </a:pPr>
            <a:r>
              <a:t>•  Benchmark against human fix time and accuracy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00400" y="6400800"/>
            <a:ext cx="5760720" cy="365760"/>
          </a:xfrm>
          <a:prstGeom prst="roundRect">
            <a:avLst/>
          </a:prstGeom>
          <a:solidFill>
            <a:srgbClr val="66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200400" y="640080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Thank you!  •  Questions?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92B0"/>
                </a:solidFill>
                <a:latin typeface="Calibri"/>
              </a:defRPr>
            </a:pPr>
            <a:r>
              <a:t>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1794</Words>
  <Application>Microsoft Office PowerPoint</Application>
  <PresentationFormat>Widescreen</PresentationFormat>
  <Paragraphs>250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Vasileios Kyriakopoulos</cp:lastModifiedBy>
  <cp:revision>2</cp:revision>
  <dcterms:created xsi:type="dcterms:W3CDTF">2013-01-27T09:14:16Z</dcterms:created>
  <dcterms:modified xsi:type="dcterms:W3CDTF">2026-07-05T11:53:32Z</dcterms:modified>
  <cp:category/>
</cp:coreProperties>
</file>